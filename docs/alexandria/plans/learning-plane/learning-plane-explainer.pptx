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0">
                <a:solidFill>
                  <a:srgbClr val="C9A45C"/>
                </a:solidFill>
                <a:latin typeface="Georgia"/>
              </a:rPr>
              <a:t>The Learning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A89E8C"/>
                </a:solidFill>
                <a:latin typeface="Georgia"/>
              </a:rPr>
              <a:t>what it is, in five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9E8C"/>
                </a:solidFill>
                <a:latin typeface="Arial"/>
              </a:rPr>
              <a:t>Alexandria  ·  flight/learning-plane handoff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89E8C"/>
                </a:solidFill>
                <a:latin typeface="Arial"/>
              </a:rPr>
              <a:t>1 · THE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C9A45C"/>
                </a:solidFill>
                <a:latin typeface="Georgia"/>
              </a:rPr>
              <a:t>Alexandria does two jobs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83080"/>
            <a:ext cx="4937760" cy="141732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STORE &amp; SHARE</a:t>
            </a:r>
          </a:p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THE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6792" y="1783080"/>
            <a:ext cx="4937760" cy="141732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STORE &amp; SHARE</a:t>
            </a:r>
          </a:p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HOW THE PLAN IS GOING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89E8C"/>
                </a:solidFill>
                <a:latin typeface="Arial"/>
              </a:rPr>
              <a:t>2 · THE PLAN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C9A45C"/>
                </a:solidFill>
                <a:latin typeface="Georgia"/>
              </a:rPr>
              <a:t>Alexandria does two jobs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83080"/>
            <a:ext cx="4937760" cy="141732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STORE &amp; SHARE</a:t>
            </a:r>
          </a:p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THE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6792" y="1783080"/>
            <a:ext cx="4937760" cy="1417320"/>
          </a:xfrm>
          <a:prstGeom prst="roundRect">
            <a:avLst/>
          </a:prstGeom>
          <a:solidFill>
            <a:srgbClr val="191512"/>
          </a:solidFill>
          <a:ln w="15875">
            <a:solidFill>
              <a:srgbClr val="4A4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A4238"/>
                </a:solidFill>
                <a:latin typeface="Arial"/>
              </a:rPr>
              <a:t>STORE &amp; SHARE</a:t>
            </a:r>
          </a:p>
          <a:p>
            <a:pPr algn="ctr"/>
            <a:r>
              <a:rPr sz="2000" b="1">
                <a:solidFill>
                  <a:srgbClr val="4A4238"/>
                </a:solidFill>
                <a:latin typeface="Arial"/>
              </a:rPr>
              <a:t>HOW THE PLAN IS GOING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20440"/>
            <a:ext cx="4937760" cy="86868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C9A45C"/>
                </a:solidFill>
                <a:latin typeface="Arial"/>
              </a:rPr>
              <a:t>STRATEGY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50791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9E8C"/>
                </a:solidFill>
                <a:latin typeface="Arial"/>
              </a:rPr>
              <a:t>company bets, pulled into the product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89E8C"/>
                </a:solidFill>
                <a:latin typeface="Arial"/>
              </a:rPr>
              <a:t>3 · THE PLAN SIDE, COVERED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C9A45C"/>
                </a:solidFill>
                <a:latin typeface="Georgia"/>
              </a:rPr>
              <a:t>Alexandria does two jobs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83080"/>
            <a:ext cx="4937760" cy="141732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STORE &amp; SHARE</a:t>
            </a:r>
          </a:p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THE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6792" y="1783080"/>
            <a:ext cx="4937760" cy="1417320"/>
          </a:xfrm>
          <a:prstGeom prst="roundRect">
            <a:avLst/>
          </a:prstGeom>
          <a:solidFill>
            <a:srgbClr val="191512"/>
          </a:solidFill>
          <a:ln w="15875">
            <a:solidFill>
              <a:srgbClr val="4A4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4A4238"/>
                </a:solidFill>
                <a:latin typeface="Arial"/>
              </a:rPr>
              <a:t>STORE &amp; SHARE</a:t>
            </a:r>
          </a:p>
          <a:p>
            <a:pPr algn="ctr"/>
            <a:r>
              <a:rPr sz="2000" b="1">
                <a:solidFill>
                  <a:srgbClr val="4A4238"/>
                </a:solidFill>
                <a:latin typeface="Arial"/>
              </a:rPr>
              <a:t>HOW THE PLAN IS GOING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618488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BEF264"/>
                </a:solidFill>
                <a:latin typeface="Georgia"/>
              </a:rPr>
              <a:t>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20440"/>
            <a:ext cx="4937760" cy="86868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C9A45C"/>
                </a:solidFill>
                <a:latin typeface="Arial"/>
              </a:rPr>
              <a:t>STRATEGY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50791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9E8C"/>
                </a:solidFill>
                <a:latin typeface="Arial"/>
              </a:rPr>
              <a:t>company bets, pulled into the 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4937760" cy="86868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E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8E0D0"/>
                </a:solidFill>
                <a:latin typeface="Arial"/>
              </a:rPr>
              <a:t>PRODUCT 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10235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9E8C"/>
                </a:solidFill>
                <a:latin typeface="Arial"/>
              </a:rPr>
              <a:t>what the product is, has been, will 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89E8C"/>
                </a:solidFill>
                <a:latin typeface="Arial"/>
              </a:rPr>
              <a:t>4 ·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C9A45C"/>
                </a:solidFill>
                <a:latin typeface="Georgia"/>
              </a:rPr>
              <a:t>Alexandria does two jobs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83080"/>
            <a:ext cx="4937760" cy="141732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STORE &amp; SHARE</a:t>
            </a:r>
          </a:p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THE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6792" y="1783080"/>
            <a:ext cx="4937760" cy="141732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STORE &amp; SHARE</a:t>
            </a:r>
          </a:p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HOW THE PLAN IS GOING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618488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BEF264"/>
                </a:solidFill>
                <a:latin typeface="Georgi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6792" y="3429000"/>
            <a:ext cx="4937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0" b="1">
                <a:solidFill>
                  <a:srgbClr val="FBBF24"/>
                </a:solidFill>
                <a:latin typeface="Arial"/>
              </a:rP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520440"/>
            <a:ext cx="4937760" cy="86868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C9A45C"/>
                </a:solidFill>
                <a:latin typeface="Arial"/>
              </a:rPr>
              <a:t>STRATEGY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50791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9E8C"/>
                </a:solidFill>
                <a:latin typeface="Arial"/>
              </a:rPr>
              <a:t>company bets, pulled into the 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72000"/>
            <a:ext cx="4937760" cy="86868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E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8E0D0"/>
                </a:solidFill>
                <a:latin typeface="Arial"/>
              </a:rPr>
              <a:t>PRODUCT 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10235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9E8C"/>
                </a:solidFill>
                <a:latin typeface="Arial"/>
              </a:rPr>
              <a:t>what the product is, has been, will 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59893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89E8C"/>
                </a:solidFill>
                <a:latin typeface="Georgia"/>
              </a:rPr>
              <a:t>who holds what we're learning?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89E8C"/>
                </a:solidFill>
                <a:latin typeface="Arial"/>
              </a:rPr>
              <a:t>5 ·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C9A45C"/>
                </a:solidFill>
                <a:latin typeface="Georgia"/>
              </a:rPr>
              <a:t>Alexandria does two jobs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83080"/>
            <a:ext cx="4937760" cy="141732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STORE &amp; SHARE</a:t>
            </a:r>
          </a:p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THE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6792" y="1783080"/>
            <a:ext cx="4937760" cy="141732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STORE &amp; SHARE</a:t>
            </a:r>
          </a:p>
          <a:p>
            <a:pPr algn="ctr"/>
            <a:r>
              <a:rPr sz="2000" b="1">
                <a:solidFill>
                  <a:srgbClr val="E8E0D0"/>
                </a:solidFill>
                <a:latin typeface="Arial"/>
              </a:rPr>
              <a:t>HOW THE PLAN IS GOING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618488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BEF264"/>
                </a:solidFill>
                <a:latin typeface="Georgi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88752" y="1618488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BEF264"/>
                </a:solidFill>
                <a:latin typeface="Georgia"/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520440"/>
            <a:ext cx="4937760" cy="86868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C9A45C"/>
                </a:solidFill>
                <a:latin typeface="Arial"/>
              </a:rPr>
              <a:t>STRATEGY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50791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9E8C"/>
                </a:solidFill>
                <a:latin typeface="Arial"/>
              </a:rPr>
              <a:t>company bets, pulled into the 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72000"/>
            <a:ext cx="4937760" cy="86868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E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8E0D0"/>
                </a:solidFill>
                <a:latin typeface="Arial"/>
              </a:rPr>
              <a:t>PRODUCT 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10235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9E8C"/>
                </a:solidFill>
                <a:latin typeface="Arial"/>
              </a:rPr>
              <a:t>what the product is, has been, will 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3520440"/>
            <a:ext cx="4937760" cy="86868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BBF24"/>
                </a:solidFill>
                <a:latin typeface="Arial"/>
              </a:rPr>
              <a:t>LEARNING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4050791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9E8C"/>
                </a:solidFill>
                <a:latin typeface="Arial"/>
              </a:rPr>
              <a:t>the information that shapes both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4572000"/>
            <a:ext cx="4937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E8E0D0"/>
                </a:solidFill>
                <a:latin typeface="Georgia"/>
              </a:rPr>
              <a:t>captures what shapes our strategy and product,</a:t>
            </a:r>
          </a:p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E8E0D0"/>
                </a:solidFill>
                <a:latin typeface="Georgia"/>
              </a:rPr>
              <a:t>on an ongoing basis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89E8C"/>
                </a:solidFill>
                <a:latin typeface="Arial"/>
              </a:rPr>
              <a:t>6 · HOW THE THREE PLANES WORK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C9A45C"/>
                </a:solidFill>
                <a:latin typeface="Georgia"/>
              </a:rPr>
              <a:t>One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3017520" cy="114300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8E0D0"/>
                </a:solidFill>
                <a:latin typeface="Arial"/>
              </a:rPr>
              <a:t>STRATEGY</a:t>
            </a:r>
          </a:p>
          <a:p>
            <a:pPr algn="ctr"/>
            <a:r>
              <a:rPr sz="1600" b="1">
                <a:solidFill>
                  <a:srgbClr val="E8E0D0"/>
                </a:solidFill>
                <a:latin typeface="Arial"/>
              </a:rPr>
              <a:t>stakes the wagers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017520" cy="114300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E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8E0D0"/>
                </a:solidFill>
                <a:latin typeface="Arial"/>
              </a:rPr>
              <a:t>PRODUCT</a:t>
            </a:r>
          </a:p>
          <a:p>
            <a:pPr algn="ctr"/>
            <a:r>
              <a:rPr sz="1600" b="1">
                <a:solidFill>
                  <a:srgbClr val="E8E0D0"/>
                </a:solidFill>
                <a:latin typeface="Arial"/>
              </a:rPr>
              <a:t>embodies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572000"/>
            <a:ext cx="3017520" cy="114300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Arial"/>
              </a:rPr>
              <a:t>LEARNING</a:t>
            </a:r>
          </a:p>
          <a:p>
            <a:pPr algn="ctr"/>
            <a:r>
              <a:rPr sz="1600" b="1">
                <a:solidFill>
                  <a:srgbClr val="FBBF24"/>
                </a:solidFill>
                <a:latin typeface="Arial"/>
              </a:rPr>
              <a:t>holds the proof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480560" y="2194560"/>
            <a:ext cx="3200400" cy="457200"/>
          </a:xfrm>
          <a:prstGeom prst="rightArrow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37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89E8C"/>
                </a:solidFill>
                <a:latin typeface="Arial"/>
              </a:rPr>
              <a:t>the plan</a:t>
            </a:r>
          </a:p>
        </p:txBody>
      </p:sp>
      <p:sp>
        <p:nvSpPr>
          <p:cNvPr id="9" name="Right Arrow 8"/>
          <p:cNvSpPr/>
          <p:nvPr/>
        </p:nvSpPr>
        <p:spPr>
          <a:xfrm rot="8100000">
            <a:off x="7772400" y="3566160"/>
            <a:ext cx="2377440" cy="457200"/>
          </a:xfrm>
          <a:prstGeom prst="rightArrow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41605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89E8C"/>
                </a:solidFill>
                <a:latin typeface="Arial"/>
              </a:rPr>
              <a:t>using it throws off evidence</a:t>
            </a:r>
          </a:p>
        </p:txBody>
      </p:sp>
      <p:sp>
        <p:nvSpPr>
          <p:cNvPr id="11" name="Right Arrow 10"/>
          <p:cNvSpPr/>
          <p:nvPr/>
        </p:nvSpPr>
        <p:spPr>
          <a:xfrm rot="13500000">
            <a:off x="2103120" y="3566160"/>
            <a:ext cx="2377440" cy="457200"/>
          </a:xfrm>
          <a:prstGeom prst="rightArrow">
            <a:avLst/>
          </a:prstGeom>
          <a:solidFill>
            <a:srgbClr val="C9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1605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89E8C"/>
                </a:solidFill>
                <a:latin typeface="Arial"/>
              </a:rPr>
              <a:t>proof moves the bets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89E8C"/>
                </a:solidFill>
                <a:latin typeface="Arial"/>
              </a:rPr>
              <a:t>7 ·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E8E0D0"/>
                </a:solidFill>
                <a:latin typeface="Georgia"/>
              </a:rPr>
              <a:t>Staffed with AI agents, the loop answers in real time: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2743200"/>
            <a:ext cx="4206240" cy="182880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BEF2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BEF264"/>
                </a:solidFill>
                <a:latin typeface="Arial"/>
              </a:rPr>
              <a:t>DOUBLE</a:t>
            </a:r>
          </a:p>
          <a:p>
            <a:pPr algn="ctr"/>
            <a:r>
              <a:rPr sz="3000" b="1">
                <a:solidFill>
                  <a:srgbClr val="BEF264"/>
                </a:solidFill>
                <a:latin typeface="Arial"/>
              </a:rPr>
              <a:t>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2743200"/>
            <a:ext cx="4206240" cy="182880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BBF24"/>
                </a:solidFill>
                <a:latin typeface="Arial"/>
              </a:rPr>
              <a:t>CHANGE</a:t>
            </a:r>
          </a:p>
          <a:p>
            <a:pPr algn="ctr"/>
            <a:r>
              <a:rPr sz="3000" b="1">
                <a:solidFill>
                  <a:srgbClr val="FBBF24"/>
                </a:solidFill>
                <a:latin typeface="Arial"/>
              </a:rPr>
              <a:t>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A89E8C"/>
                </a:solidFill>
                <a:latin typeface="Georgia"/>
              </a:rPr>
              <a:t>on any strategy or product path — from evidence, not conviction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89E8C"/>
                </a:solidFill>
                <a:latin typeface="Arial"/>
              </a:rPr>
              <a:t>8 · INSIDE THE LEARNING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C9A45C"/>
                </a:solidFill>
                <a:latin typeface="Georgia"/>
              </a:rPr>
              <a:t>Four shelves + a front door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645920"/>
            <a:ext cx="8138160" cy="77724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9A45C"/>
                </a:solidFill>
                <a:latin typeface="Arial"/>
              </a:rPr>
              <a:t>KEYSTONE — the plane's own story, told in one 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697480"/>
            <a:ext cx="8138160" cy="77724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5EEAD4"/>
                </a:solidFill>
                <a:latin typeface="Arial"/>
              </a:rPr>
              <a:t>RESEARCH   </a:t>
            </a:r>
            <a:r>
              <a:rPr sz="1600">
                <a:solidFill>
                  <a:srgbClr val="E8E0D0"/>
                </a:solidFill>
                <a:latin typeface="Georgia"/>
              </a:rPr>
              <a:t>— evidence we 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89864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89E8C"/>
                </a:solidFill>
                <a:latin typeface="Arial"/>
              </a:rPr>
              <a:t>20 cards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3657600"/>
            <a:ext cx="8138160" cy="77724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C4B5FD"/>
                </a:solidFill>
                <a:latin typeface="Arial"/>
              </a:rPr>
              <a:t>EXPERIMENTS   </a:t>
            </a:r>
            <a:r>
              <a:rPr sz="1600">
                <a:solidFill>
                  <a:srgbClr val="E8E0D0"/>
                </a:solidFill>
                <a:latin typeface="Georgia"/>
              </a:rPr>
              <a:t>— evidence we're GETTING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385876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89E8C"/>
                </a:solidFill>
                <a:latin typeface="Arial"/>
              </a:rPr>
              <a:t>7 cards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617720"/>
            <a:ext cx="8138160" cy="77724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BEF2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BEF264"/>
                </a:solidFill>
                <a:latin typeface="Arial"/>
              </a:rPr>
              <a:t>MEASUREMENT   </a:t>
            </a:r>
            <a:r>
              <a:rPr sz="1600">
                <a:solidFill>
                  <a:srgbClr val="E8E0D0"/>
                </a:solidFill>
                <a:latin typeface="Georgia"/>
              </a:rPr>
              <a:t>— numbers that KEEP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481888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89E8C"/>
                </a:solidFill>
                <a:latin typeface="Arial"/>
              </a:rPr>
              <a:t>5 cards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5577840"/>
            <a:ext cx="8138160" cy="77724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BBF24"/>
                </a:solidFill>
                <a:latin typeface="Arial"/>
              </a:rPr>
              <a:t>ARCS   </a:t>
            </a:r>
            <a:r>
              <a:rPr sz="1600">
                <a:solidFill>
                  <a:srgbClr val="E8E0D0"/>
                </a:solidFill>
                <a:latin typeface="Georgia"/>
              </a:rPr>
              <a:t>— the STORY of a 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577900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89E8C"/>
                </a:solidFill>
                <a:latin typeface="Arial"/>
              </a:rPr>
              <a:t>3 cards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89E8C"/>
                </a:solidFill>
                <a:latin typeface="Arial"/>
              </a:rPr>
              <a:t>9 · SHELF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" cy="5120640"/>
          </a:xfrm>
          <a:prstGeom prst="rect">
            <a:avLst/>
          </a:prstGeom>
          <a:solidFill>
            <a:srgbClr val="5EEAD4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5EEAD4"/>
                </a:solidFill>
                <a:latin typeface="Arial"/>
              </a:rP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E8E0D0"/>
                </a:solidFill>
                <a:latin typeface="Georgia"/>
              </a:rPr>
              <a:t>Evidence already settled. Each finding is its own card.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89E8C"/>
                </a:solidFill>
                <a:latin typeface="Arial"/>
              </a:rPr>
              <a:t>20 cards today  ·  shelf lead: “The Evidence We Hold”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926080"/>
            <a:ext cx="2286000" cy="128016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5EEAD4"/>
                </a:solidFill>
                <a:latin typeface="Arial"/>
              </a:rPr>
              <a:t>HIGH-RELIABILITY</a:t>
            </a:r>
          </a:p>
          <a:p>
            <a:pPr algn="ctr"/>
            <a:r>
              <a:rPr sz="1400" b="1">
                <a:solidFill>
                  <a:srgbClr val="5EEAD4"/>
                </a:solidFill>
                <a:latin typeface="Arial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2519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89E8C"/>
                </a:solidFill>
                <a:latin typeface="Arial"/>
              </a:rPr>
              <a:t>a corpus of lessons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926080"/>
            <a:ext cx="2286000" cy="128016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5EEAD4"/>
                </a:solidFill>
                <a:latin typeface="Arial"/>
              </a:rPr>
              <a:t>SYSTEM-</a:t>
            </a:r>
          </a:p>
          <a:p>
            <a:pPr algn="ctr"/>
            <a:r>
              <a:rPr sz="1400" b="1">
                <a:solidFill>
                  <a:srgbClr val="5EEAD4"/>
                </a:solidFill>
                <a:latin typeface="Arial"/>
              </a:rPr>
              <a:t>BUILDERS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42519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89E8C"/>
                </a:solidFill>
                <a:latin typeface="Arial"/>
              </a:rPr>
              <a:t>a corpus of lessons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79" y="2926080"/>
            <a:ext cx="2286000" cy="128016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5EEAD4"/>
                </a:solidFill>
                <a:latin typeface="Arial"/>
              </a:rPr>
              <a:t>TOOLS FOR</a:t>
            </a:r>
          </a:p>
          <a:p>
            <a:pPr algn="ctr"/>
            <a:r>
              <a:rPr sz="1400" b="1">
                <a:solidFill>
                  <a:srgbClr val="5EEAD4"/>
                </a:solidFill>
                <a:latin typeface="Arial"/>
              </a:rPr>
              <a:t>THOUGHT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42519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89E8C"/>
                </a:solidFill>
                <a:latin typeface="Arial"/>
              </a:rPr>
              <a:t>a corpus of lessons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926080"/>
            <a:ext cx="2286000" cy="128016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E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8E0D0"/>
                </a:solidFill>
                <a:latin typeface="Arial"/>
              </a:rPr>
              <a:t>RESULTS &amp;</a:t>
            </a:r>
          </a:p>
          <a:p>
            <a:pPr algn="ctr"/>
            <a:r>
              <a:rPr sz="1400" b="1">
                <a:solidFill>
                  <a:srgbClr val="E8E0D0"/>
                </a:solidFill>
                <a:latin typeface="Arial"/>
              </a:rPr>
              <a:t>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42519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89E8C"/>
                </a:solidFill>
                <a:latin typeface="Arial"/>
              </a:rPr>
              <a:t>banked as they land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89E8C"/>
                </a:solidFill>
                <a:latin typeface="Arial"/>
              </a:rPr>
              <a:t>10 · SHELF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" cy="5120640"/>
          </a:xfrm>
          <a:prstGeom prst="rect">
            <a:avLst/>
          </a:prstGeom>
          <a:solidFill>
            <a:srgbClr val="C4B5FD"/>
          </a:solidFill>
          <a:ln w="15875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C4B5FD"/>
                </a:solidFill>
                <a:latin typeface="Arial"/>
              </a:rPr>
              <a:t>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E8E0D0"/>
                </a:solidFill>
                <a:latin typeface="Georgia"/>
              </a:rPr>
              <a:t>A question that ends by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89E8C"/>
                </a:solidFill>
                <a:latin typeface="Arial"/>
              </a:rPr>
              <a:t>7 cards today  ·  shelf lead: “The Tests We Run”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3017520"/>
            <a:ext cx="2743200" cy="118872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4B5FD"/>
                </a:solidFill>
                <a:latin typeface="Arial"/>
              </a:rPr>
              <a:t>PREDICTION</a:t>
            </a:r>
          </a:p>
          <a:p>
            <a:pPr algn="ctr"/>
            <a:r>
              <a:rPr sz="1500" b="1">
                <a:solidFill>
                  <a:srgbClr val="C4B5FD"/>
                </a:solidFill>
                <a:latin typeface="Arial"/>
              </a:rPr>
              <a:t>written first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3383280"/>
            <a:ext cx="1005840" cy="457200"/>
          </a:xfrm>
          <a:prstGeom prst="rightArrow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94960" y="3017520"/>
            <a:ext cx="2743200" cy="118872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8E0D0"/>
                </a:solidFill>
                <a:latin typeface="Arial"/>
              </a:rPr>
              <a:t>RUN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321040" y="3383280"/>
            <a:ext cx="1005840" cy="457200"/>
          </a:xfrm>
          <a:prstGeom prst="rightArrow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ctagon 10"/>
          <p:cNvSpPr/>
          <p:nvPr/>
        </p:nvSpPr>
        <p:spPr>
          <a:xfrm>
            <a:off x="9509760" y="2880360"/>
            <a:ext cx="1554480" cy="1463040"/>
          </a:xfrm>
          <a:prstGeom prst="octagon">
            <a:avLst/>
          </a:prstGeom>
          <a:solidFill>
            <a:srgbClr val="7F1D1D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E8E0D0"/>
                </a:solidFill>
                <a:latin typeface="Arial"/>
              </a:rPr>
              <a:t>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448056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89E8C"/>
                </a:solidFill>
                <a:latin typeface="Arial"/>
              </a:rPr>
              <a:t>committed before the run —</a:t>
            </a:r>
          </a:p>
          <a:p>
            <a:pPr algn="ctr"/>
            <a:r>
              <a:rPr sz="1200" b="0">
                <a:solidFill>
                  <a:srgbClr val="A89E8C"/>
                </a:solidFill>
                <a:latin typeface="Arial"/>
              </a:rPr>
              <a:t>no moving the goalposts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89E8C"/>
                </a:solidFill>
                <a:latin typeface="Arial"/>
              </a:rPr>
              <a:t>11 · SHELF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" cy="5120640"/>
          </a:xfrm>
          <a:prstGeom prst="rect">
            <a:avLst/>
          </a:prstGeom>
          <a:solidFill>
            <a:srgbClr val="BEF264"/>
          </a:solidFill>
          <a:ln w="15875">
            <a:solidFill>
              <a:srgbClr val="BEF2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BEF264"/>
                </a:solidFill>
                <a:latin typeface="Arial"/>
              </a:rPr>
              <a:t>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E8E0D0"/>
                </a:solidFill>
                <a:latin typeface="Georgia"/>
              </a:rPr>
              <a:t>Numbers that never stop reading.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89E8C"/>
                </a:solidFill>
                <a:latin typeface="Arial"/>
              </a:rPr>
              <a:t>5 cards today  ·  shelf lead: “What We Watch”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2651760"/>
            <a:ext cx="4206240" cy="96012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C9A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9A45C"/>
                </a:solidFill>
                <a:latin typeface="Arial"/>
              </a:rPr>
              <a:t>★ GOLDEN METRIC</a:t>
            </a:r>
          </a:p>
          <a:p>
            <a:pPr algn="ctr"/>
            <a:r>
              <a:rPr sz="1400" b="1">
                <a:solidFill>
                  <a:srgbClr val="C9A45C"/>
                </a:solidFill>
                <a:latin typeface="Arial"/>
              </a:rPr>
              <a:t>fair-market value delivered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297680"/>
            <a:ext cx="2194560" cy="77724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BEF2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BEF264"/>
                </a:solidFill>
                <a:latin typeface="Arial"/>
              </a:rPr>
              <a:t>per-wager</a:t>
            </a:r>
          </a:p>
          <a:p>
            <a:pPr algn="ctr"/>
            <a:r>
              <a:rPr sz="1200" b="1">
                <a:solidFill>
                  <a:srgbClr val="BEF264"/>
                </a:solidFill>
                <a:latin typeface="Arial"/>
              </a:rPr>
              <a:t>measure</a:t>
            </a:r>
          </a:p>
        </p:txBody>
      </p:sp>
      <p:sp>
        <p:nvSpPr>
          <p:cNvPr id="9" name="Right Arrow 8"/>
          <p:cNvSpPr/>
          <p:nvPr/>
        </p:nvSpPr>
        <p:spPr>
          <a:xfrm rot="16200000">
            <a:off x="3108960" y="3794760"/>
            <a:ext cx="640080" cy="320040"/>
          </a:xfrm>
          <a:prstGeom prst="rightArrow">
            <a:avLst/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0" y="4297680"/>
            <a:ext cx="2194560" cy="77724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BEF2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BEF264"/>
                </a:solidFill>
                <a:latin typeface="Arial"/>
              </a:rPr>
              <a:t>per-wager</a:t>
            </a:r>
          </a:p>
          <a:p>
            <a:pPr algn="ctr"/>
            <a:r>
              <a:rPr sz="1200" b="1">
                <a:solidFill>
                  <a:srgbClr val="BEF264"/>
                </a:solidFill>
                <a:latin typeface="Arial"/>
              </a:rPr>
              <a:t>measure</a:t>
            </a:r>
          </a:p>
        </p:txBody>
      </p:sp>
      <p:sp>
        <p:nvSpPr>
          <p:cNvPr id="11" name="Right Arrow 10"/>
          <p:cNvSpPr/>
          <p:nvPr/>
        </p:nvSpPr>
        <p:spPr>
          <a:xfrm rot="16200000">
            <a:off x="5852160" y="3794760"/>
            <a:ext cx="640080" cy="320040"/>
          </a:xfrm>
          <a:prstGeom prst="rightArrow">
            <a:avLst/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4297680"/>
            <a:ext cx="2194560" cy="77724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BEF2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BEF264"/>
                </a:solidFill>
                <a:latin typeface="Arial"/>
              </a:rPr>
              <a:t>per-wager</a:t>
            </a:r>
          </a:p>
          <a:p>
            <a:pPr algn="ctr"/>
            <a:r>
              <a:rPr sz="1200" b="1">
                <a:solidFill>
                  <a:srgbClr val="BEF264"/>
                </a:solidFill>
                <a:latin typeface="Arial"/>
              </a:rPr>
              <a:t>measure</a:t>
            </a:r>
          </a:p>
        </p:txBody>
      </p:sp>
      <p:sp>
        <p:nvSpPr>
          <p:cNvPr id="13" name="Right Arrow 12"/>
          <p:cNvSpPr/>
          <p:nvPr/>
        </p:nvSpPr>
        <p:spPr>
          <a:xfrm rot="16200000">
            <a:off x="8595360" y="3794760"/>
            <a:ext cx="640080" cy="320040"/>
          </a:xfrm>
          <a:prstGeom prst="rightArrow">
            <a:avLst/>
          </a:prstGeom>
          <a:solidFill>
            <a:srgbClr val="BEF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534924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89E8C"/>
                </a:solidFill>
                <a:latin typeface="Georgia"/>
              </a:rPr>
              <a:t>the feeders tell us which wager to thank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89E8C"/>
                </a:solidFill>
                <a:latin typeface="Arial"/>
              </a:rPr>
              <a:t>12 · SHELF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" cy="5120640"/>
          </a:xfrm>
          <a:prstGeom prst="rect">
            <a:avLst/>
          </a:prstGeom>
          <a:solidFill>
            <a:srgbClr val="FBBF24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BBF24"/>
                </a:solidFill>
                <a:latin typeface="Arial"/>
              </a:rPr>
              <a:t>Arcs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E8E0D0"/>
                </a:solidFill>
                <a:latin typeface="Georgia"/>
              </a:rPr>
              <a:t>A release story told atomically. The only shelf with no evidence on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89E8C"/>
                </a:solidFill>
                <a:latin typeface="Arial"/>
              </a:rPr>
              <a:t>3 cards today  ·  shelf lead: “The Stories We Tell”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108960"/>
            <a:ext cx="2011680" cy="100584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E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8E0D0"/>
                </a:solidFill>
                <a:latin typeface="Arial"/>
              </a:rPr>
              <a:t>INTENT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83280" y="3383280"/>
            <a:ext cx="914400" cy="457200"/>
          </a:xfrm>
          <a:prstGeom prst="rightArrow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2880360"/>
            <a:ext cx="4023360" cy="146304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BBF24"/>
                </a:solidFill>
                <a:latin typeface="Arial"/>
              </a:rPr>
              <a:t>one stretch of the story</a:t>
            </a:r>
          </a:p>
          <a:p>
            <a:pPr algn="ctr"/>
            <a:r>
              <a:rPr sz="1400" b="1">
                <a:solidFill>
                  <a:srgbClr val="FBBF24"/>
                </a:solidFill>
                <a:latin typeface="Arial"/>
              </a:rPr>
              <a:t>wager · product work · evidence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86800" y="3383280"/>
            <a:ext cx="914400" cy="457200"/>
          </a:xfrm>
          <a:prstGeom prst="rightArrow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0" y="3108960"/>
            <a:ext cx="2011680" cy="100584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E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8E0D0"/>
                </a:solidFill>
                <a:latin typeface="Arial"/>
              </a:rPr>
              <a:t>CANON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8920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89E8C"/>
                </a:solidFill>
                <a:latin typeface="Georgia"/>
              </a:rPr>
              <a:t>a plan minus its execution — never a schedule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89E8C"/>
                </a:solidFill>
                <a:latin typeface="Arial"/>
              </a:rPr>
              <a:t>13 · SEE IT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0">
                <a:solidFill>
                  <a:srgbClr val="C9A45C"/>
                </a:solidFill>
                <a:latin typeface="Georgia"/>
              </a:rPr>
              <a:t>Open the viewer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2286000"/>
            <a:ext cx="5943600" cy="77724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3A3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E8E0D0"/>
                </a:solidFill>
                <a:latin typeface="Consolas"/>
              </a:rPr>
              <a:t>ax start viewer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3337560"/>
            <a:ext cx="5943600" cy="77724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3A3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E8E0D0"/>
                </a:solidFill>
                <a:latin typeface="Consolas"/>
              </a:rPr>
              <a:t>Library → Index →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389120"/>
            <a:ext cx="5943600" cy="777240"/>
          </a:xfrm>
          <a:prstGeom prst="roundRect">
            <a:avLst/>
          </a:prstGeom>
          <a:solidFill>
            <a:srgbClr val="221C16"/>
          </a:solidFill>
          <a:ln w="15875">
            <a:solidFill>
              <a:srgbClr val="3A3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E8E0D0"/>
                </a:solidFill>
                <a:latin typeface="Consolas"/>
              </a:rPr>
              <a:t>Engine → plane: Learning → any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89E8C"/>
                </a:solidFill>
                <a:latin typeface="Arial"/>
              </a:rPr>
              <a:t>171 cards in the bundle · 36 on the learning plane · zero metadata issues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